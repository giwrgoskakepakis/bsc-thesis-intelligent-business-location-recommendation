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91" r:id="rId5"/>
    <p:sldId id="293" r:id="rId6"/>
    <p:sldId id="294" r:id="rId7"/>
    <p:sldId id="292" r:id="rId8"/>
    <p:sldId id="295" r:id="rId9"/>
    <p:sldId id="296" r:id="rId10"/>
    <p:sldId id="297" r:id="rId11"/>
    <p:sldId id="298" r:id="rId12"/>
    <p:sldId id="299" r:id="rId13"/>
    <p:sldId id="259" r:id="rId14"/>
    <p:sldId id="300" r:id="rId15"/>
    <p:sldId id="301" r:id="rId16"/>
    <p:sldId id="303" r:id="rId17"/>
    <p:sldId id="302" r:id="rId18"/>
  </p:sldIdLst>
  <p:sldSz cx="9144000" cy="5143500" type="screen16x9"/>
  <p:notesSz cx="6858000" cy="9144000"/>
  <p:embeddedFontLst>
    <p:embeddedFont>
      <p:font typeface="Fira Sans Condensed" panose="020B0604020202020204" charset="0"/>
      <p:regular r:id="rId20"/>
      <p:bold r:id="rId21"/>
      <p:italic r:id="rId22"/>
      <p:boldItalic r:id="rId23"/>
    </p:embeddedFont>
    <p:embeddedFont>
      <p:font typeface="Fira Sans Condensed Light" panose="020B0604020202020204" charset="0"/>
      <p:regular r:id="rId24"/>
      <p:bold r:id="rId25"/>
      <p:italic r:id="rId26"/>
      <p:boldItalic r:id="rId27"/>
    </p:embeddedFont>
    <p:embeddedFont>
      <p:font typeface="Rajdhani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2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090598-ECB5-49E1-BD92-99D10FDCA5BE}">
  <a:tblStyle styleId="{91090598-ECB5-49E1-BD92-99D10FDCA5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1" y="86"/>
      </p:cViewPr>
      <p:guideLst>
        <p:guide orient="horz" pos="62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9694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3947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688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010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380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80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3086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909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4051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8a87eb86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8a87eb86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8a87eb8680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8a87eb8680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2007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35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8309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6bcecd75ae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6bcecd75ae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08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39149" y="928938"/>
            <a:ext cx="4291500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39125" y="3848863"/>
            <a:ext cx="4291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634135" y="1434600"/>
            <a:ext cx="3532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1115100" y="1152475"/>
            <a:ext cx="6913800" cy="3456000"/>
          </a:xfrm>
          <a:prstGeom prst="rect">
            <a:avLst/>
          </a:prstGeom>
          <a:solidFill>
            <a:schemeClr val="dk1">
              <a:alpha val="56699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>
                <a:solidFill>
                  <a:srgbClr val="F3F3F3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55841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50793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18586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3538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422250" y="1418700"/>
            <a:ext cx="4299600" cy="23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100" y="1706850"/>
            <a:ext cx="2759700" cy="17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062500"/>
            <a:ext cx="8520600" cy="11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255700"/>
            <a:ext cx="8520600" cy="5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2703444" y="473704"/>
            <a:ext cx="6249725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800" dirty="0"/>
              <a:t>Leveraging Spatial Data and Generative AI for Optimal Business Location Selection</a:t>
            </a:r>
            <a:endParaRPr sz="4800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6106356" y="3822661"/>
            <a:ext cx="2500215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Giorgos Kakepakis - 03198</a:t>
            </a:r>
            <a:endParaRPr dirty="0"/>
          </a:p>
        </p:txBody>
      </p:sp>
      <p:pic>
        <p:nvPicPr>
          <p:cNvPr id="59" name="Google Shape;59;p15"/>
          <p:cNvPicPr preferRelativeResize="0"/>
          <p:nvPr/>
        </p:nvPicPr>
        <p:blipFill rotWithShape="1">
          <a:blip r:embed="rId4">
            <a:alphaModFix/>
          </a:blip>
          <a:srcRect l="25302" r="25297"/>
          <a:stretch/>
        </p:blipFill>
        <p:spPr>
          <a:xfrm>
            <a:off x="0" y="571365"/>
            <a:ext cx="3049450" cy="34723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8;p15">
            <a:extLst>
              <a:ext uri="{FF2B5EF4-FFF2-40B4-BE49-F238E27FC236}">
                <a16:creationId xmlns:a16="http://schemas.microsoft.com/office/drawing/2014/main" id="{8BE0B7CA-6540-487A-912A-5F4703321F25}"/>
              </a:ext>
            </a:extLst>
          </p:cNvPr>
          <p:cNvSpPr txBox="1">
            <a:spLocks/>
          </p:cNvSpPr>
          <p:nvPr/>
        </p:nvSpPr>
        <p:spPr>
          <a:xfrm>
            <a:off x="6106356" y="4188361"/>
            <a:ext cx="2500215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14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/>
            <a:r>
              <a:rPr lang="en-US" dirty="0"/>
              <a:t>Professor: E. </a:t>
            </a:r>
            <a:r>
              <a:rPr lang="en-US" dirty="0" err="1"/>
              <a:t>Houstis</a:t>
            </a:r>
            <a:endParaRPr lang="en-US" dirty="0"/>
          </a:p>
        </p:txBody>
      </p:sp>
      <p:sp>
        <p:nvSpPr>
          <p:cNvPr id="7" name="Google Shape;58;p15">
            <a:extLst>
              <a:ext uri="{FF2B5EF4-FFF2-40B4-BE49-F238E27FC236}">
                <a16:creationId xmlns:a16="http://schemas.microsoft.com/office/drawing/2014/main" id="{706FB5A4-F833-4FC9-89F3-AEAC99576E0E}"/>
              </a:ext>
            </a:extLst>
          </p:cNvPr>
          <p:cNvSpPr txBox="1">
            <a:spLocks/>
          </p:cNvSpPr>
          <p:nvPr/>
        </p:nvSpPr>
        <p:spPr>
          <a:xfrm>
            <a:off x="3254621" y="3474367"/>
            <a:ext cx="2030301" cy="142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14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ira Sans Condensed Light"/>
              <a:buNone/>
              <a:defRPr sz="2800" b="0" i="0" u="none" strike="noStrike" cap="none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/>
            <a:r>
              <a:rPr lang="en-US" sz="2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Thesis Framework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648539" y="428182"/>
            <a:ext cx="7704000" cy="10110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“Mechanism for the Optimal Location of a Business” ~ article</a:t>
            </a:r>
            <a:endParaRPr lang="en-US" b="0" dirty="0"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15100" y="1581846"/>
            <a:ext cx="6913800" cy="25925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Inspired by the </a:t>
            </a:r>
            <a:r>
              <a:rPr lang="en-US" b="1" dirty="0"/>
              <a:t>Department of Planning and Regional Development</a:t>
            </a:r>
            <a:r>
              <a:rPr lang="en-US" b="1" dirty="0">
                <a:solidFill>
                  <a:schemeClr val="lt2"/>
                </a:solidFill>
              </a:rPr>
              <a:t> </a:t>
            </a:r>
            <a:r>
              <a:rPr lang="en-US" dirty="0">
                <a:solidFill>
                  <a:schemeClr val="lt2"/>
                </a:solidFill>
              </a:rPr>
              <a:t>research performed and paper written</a:t>
            </a:r>
            <a:endParaRPr dirty="0">
              <a:solidFill>
                <a:schemeClr val="lt2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Manually assigned weights to create a predictor model, extracted the following conclusions:</a:t>
            </a:r>
            <a:endParaRPr dirty="0">
              <a:solidFill>
                <a:schemeClr val="lt2"/>
              </a:solidFill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○"/>
            </a:pPr>
            <a:r>
              <a:rPr lang="en-US" dirty="0"/>
              <a:t>Importance of </a:t>
            </a:r>
            <a:r>
              <a:rPr lang="en-US" b="1" dirty="0"/>
              <a:t>commercial center </a:t>
            </a:r>
            <a:r>
              <a:rPr lang="en-US" dirty="0"/>
              <a:t>for urban shrinkage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○"/>
            </a:pPr>
            <a:r>
              <a:rPr lang="en-US" dirty="0"/>
              <a:t>Model predictions approximate reality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○"/>
            </a:pPr>
            <a:r>
              <a:rPr lang="en-US" dirty="0"/>
              <a:t>Different weights assigned per branch</a:t>
            </a:r>
            <a:endParaRPr dirty="0"/>
          </a:p>
          <a:p>
            <a:pPr lvl="0">
              <a:spcBef>
                <a:spcPts val="1000"/>
              </a:spcBef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Compared with businesses active 4-years or more </a:t>
            </a:r>
            <a:endParaRPr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000" y="3455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Machine Learning Integration</a:t>
            </a:r>
            <a:endParaRPr dirty="0"/>
          </a:p>
        </p:txBody>
      </p:sp>
      <p:grpSp>
        <p:nvGrpSpPr>
          <p:cNvPr id="71" name="Google Shape;71;p17"/>
          <p:cNvGrpSpPr/>
          <p:nvPr/>
        </p:nvGrpSpPr>
        <p:grpSpPr>
          <a:xfrm>
            <a:off x="5699116" y="1676451"/>
            <a:ext cx="2155203" cy="802139"/>
            <a:chOff x="5699116" y="1672629"/>
            <a:chExt cx="2155203" cy="802139"/>
          </a:xfrm>
        </p:grpSpPr>
        <p:sp>
          <p:nvSpPr>
            <p:cNvPr id="72" name="Google Shape;72;p17"/>
            <p:cNvSpPr txBox="1"/>
            <p:nvPr/>
          </p:nvSpPr>
          <p:spPr>
            <a:xfrm>
              <a:off x="5699116" y="1672629"/>
              <a:ext cx="2155200" cy="45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Predictions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73" name="Google Shape;73;p17"/>
            <p:cNvSpPr txBox="1"/>
            <p:nvPr/>
          </p:nvSpPr>
          <p:spPr>
            <a:xfrm>
              <a:off x="5699118" y="1930567"/>
              <a:ext cx="2155200" cy="54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Using ML models to make predictions based on data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74" name="Google Shape;74;p17"/>
          <p:cNvGrpSpPr/>
          <p:nvPr/>
        </p:nvGrpSpPr>
        <p:grpSpPr>
          <a:xfrm>
            <a:off x="2313750" y="3499044"/>
            <a:ext cx="2155206" cy="802374"/>
            <a:chOff x="2313750" y="3396990"/>
            <a:chExt cx="2155206" cy="802374"/>
          </a:xfrm>
        </p:grpSpPr>
        <p:sp>
          <p:nvSpPr>
            <p:cNvPr id="75" name="Google Shape;75;p17"/>
            <p:cNvSpPr txBox="1"/>
            <p:nvPr/>
          </p:nvSpPr>
          <p:spPr>
            <a:xfrm>
              <a:off x="2313750" y="3396990"/>
              <a:ext cx="21552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Generative AI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76" name="Google Shape;76;p17"/>
            <p:cNvSpPr txBox="1"/>
            <p:nvPr/>
          </p:nvSpPr>
          <p:spPr>
            <a:xfrm>
              <a:off x="2313756" y="3650664"/>
              <a:ext cx="2155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User gets a contextual and cohesive response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77" name="Google Shape;77;p17"/>
          <p:cNvGrpSpPr/>
          <p:nvPr/>
        </p:nvGrpSpPr>
        <p:grpSpPr>
          <a:xfrm>
            <a:off x="5699116" y="3499045"/>
            <a:ext cx="2155203" cy="802372"/>
            <a:chOff x="5699116" y="3389935"/>
            <a:chExt cx="2155203" cy="802372"/>
          </a:xfrm>
        </p:grpSpPr>
        <p:sp>
          <p:nvSpPr>
            <p:cNvPr id="78" name="Google Shape;78;p17"/>
            <p:cNvSpPr txBox="1"/>
            <p:nvPr/>
          </p:nvSpPr>
          <p:spPr>
            <a:xfrm>
              <a:off x="5699116" y="3389935"/>
              <a:ext cx="21552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Databases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79" name="Google Shape;79;p17"/>
            <p:cNvSpPr txBox="1"/>
            <p:nvPr/>
          </p:nvSpPr>
          <p:spPr>
            <a:xfrm>
              <a:off x="5699118" y="3643607"/>
              <a:ext cx="2155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Dynamic system based on our candidates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80" name="Google Shape;80;p17"/>
          <p:cNvGrpSpPr/>
          <p:nvPr/>
        </p:nvGrpSpPr>
        <p:grpSpPr>
          <a:xfrm>
            <a:off x="2313750" y="1675492"/>
            <a:ext cx="2155206" cy="804056"/>
            <a:chOff x="2313750" y="1566323"/>
            <a:chExt cx="2155206" cy="804056"/>
          </a:xfrm>
        </p:grpSpPr>
        <p:sp>
          <p:nvSpPr>
            <p:cNvPr id="81" name="Google Shape;81;p17"/>
            <p:cNvSpPr txBox="1"/>
            <p:nvPr/>
          </p:nvSpPr>
          <p:spPr>
            <a:xfrm>
              <a:off x="2313750" y="1566323"/>
              <a:ext cx="2155200" cy="45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NLP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82" name="Google Shape;82;p17"/>
            <p:cNvSpPr txBox="1"/>
            <p:nvPr/>
          </p:nvSpPr>
          <p:spPr>
            <a:xfrm>
              <a:off x="2313756" y="1826179"/>
              <a:ext cx="2155200" cy="54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Understanding the prompt of a user contextually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sp>
        <p:nvSpPr>
          <p:cNvPr id="83" name="Google Shape;83;p17"/>
          <p:cNvSpPr/>
          <p:nvPr/>
        </p:nvSpPr>
        <p:spPr>
          <a:xfrm>
            <a:off x="1289677" y="1652336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72346" y="1652336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289677" y="3475047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3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672346" y="3475047"/>
            <a:ext cx="877800" cy="877800"/>
          </a:xfrm>
          <a:prstGeom prst="roundRect">
            <a:avLst>
              <a:gd name="adj" fmla="val 0"/>
            </a:avLst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4</a:t>
            </a:r>
            <a:endParaRPr sz="40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000" y="3455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Suggested Framework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C5B66-29D8-482C-AAEC-291E24D2B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22" y="1194736"/>
            <a:ext cx="6346556" cy="340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3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000" y="3455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User Input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C5B66-29D8-482C-AAEC-291E24D2B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22" y="1194736"/>
            <a:ext cx="6346556" cy="340023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34033B1-5608-47AF-A914-783274B5511D}"/>
              </a:ext>
            </a:extLst>
          </p:cNvPr>
          <p:cNvSpPr/>
          <p:nvPr/>
        </p:nvSpPr>
        <p:spPr>
          <a:xfrm>
            <a:off x="1185620" y="776048"/>
            <a:ext cx="1867546" cy="14297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5792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15100" y="1465610"/>
            <a:ext cx="6913800" cy="2261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Regular text expression: “Where can I open a café in Volos?”</a:t>
            </a:r>
            <a:endParaRPr dirty="0">
              <a:solidFill>
                <a:schemeClr val="lt2"/>
              </a:solidFill>
            </a:endParaRPr>
          </a:p>
          <a:p>
            <a:pPr>
              <a:spcBef>
                <a:spcPts val="1000"/>
              </a:spcBef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We need </a:t>
            </a:r>
            <a:r>
              <a:rPr lang="en-US" b="1" dirty="0">
                <a:solidFill>
                  <a:schemeClr val="lt2"/>
                </a:solidFill>
              </a:rPr>
              <a:t>valid</a:t>
            </a:r>
            <a:r>
              <a:rPr lang="en-US" dirty="0">
                <a:solidFill>
                  <a:schemeClr val="lt2"/>
                </a:solidFill>
              </a:rPr>
              <a:t> candidate locations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Processed to create a database </a:t>
            </a:r>
            <a:r>
              <a:rPr lang="en-US" b="1" dirty="0">
                <a:solidFill>
                  <a:schemeClr val="lt2"/>
                </a:solidFill>
              </a:rPr>
              <a:t>query</a:t>
            </a:r>
            <a:endParaRPr b="1" dirty="0">
              <a:solidFill>
                <a:schemeClr val="lt2"/>
              </a:solidFill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○"/>
            </a:pPr>
            <a:r>
              <a:rPr lang="en-US" dirty="0"/>
              <a:t>Rule-Based query for SQL database (NER)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○"/>
            </a:pPr>
            <a:r>
              <a:rPr lang="en-US" dirty="0"/>
              <a:t>Embedding for Vector database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○"/>
            </a:pPr>
            <a:r>
              <a:rPr lang="en-US" dirty="0"/>
              <a:t>Hybrid approach</a:t>
            </a:r>
            <a:endParaRPr dirty="0"/>
          </a:p>
        </p:txBody>
      </p:sp>
      <p:sp>
        <p:nvSpPr>
          <p:cNvPr id="6" name="Google Shape;70;p17">
            <a:extLst>
              <a:ext uri="{FF2B5EF4-FFF2-40B4-BE49-F238E27FC236}">
                <a16:creationId xmlns:a16="http://schemas.microsoft.com/office/drawing/2014/main" id="{A94EAB93-85A1-4A69-8D4B-0BCA7CDB96DF}"/>
              </a:ext>
            </a:extLst>
          </p:cNvPr>
          <p:cNvSpPr txBox="1">
            <a:spLocks/>
          </p:cNvSpPr>
          <p:nvPr/>
        </p:nvSpPr>
        <p:spPr>
          <a:xfrm>
            <a:off x="720000" y="34553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/>
              <a:t>User Input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42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000" y="3455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Candidate Fetching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C5B66-29D8-482C-AAEC-291E24D2B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22" y="1194736"/>
            <a:ext cx="6346556" cy="34002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37CEDC5-9424-4012-9186-3B91F5FF6A03}"/>
              </a:ext>
            </a:extLst>
          </p:cNvPr>
          <p:cNvSpPr/>
          <p:nvPr/>
        </p:nvSpPr>
        <p:spPr>
          <a:xfrm>
            <a:off x="3076412" y="918230"/>
            <a:ext cx="1642821" cy="3142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679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15100" y="1465610"/>
            <a:ext cx="6913800" cy="2261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Query the database(s) to get the candidates</a:t>
            </a:r>
            <a:endParaRPr dirty="0">
              <a:solidFill>
                <a:schemeClr val="lt2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Hybrid approach can be implemented in different ways</a:t>
            </a:r>
            <a:endParaRPr b="1" dirty="0">
              <a:solidFill>
                <a:schemeClr val="lt2"/>
              </a:solidFill>
            </a:endParaRPr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ra Sans Condensed"/>
              <a:buChar char="○"/>
            </a:pPr>
            <a:r>
              <a:rPr lang="en-US" dirty="0"/>
              <a:t>SQL and vector database in parallel and combination of their results</a:t>
            </a:r>
            <a:endParaRPr dirty="0"/>
          </a:p>
          <a:p>
            <a:pPr lvl="1"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SQL querying initially and vector search on the results for speed and ending up with less candidates  </a:t>
            </a:r>
          </a:p>
          <a:p>
            <a:pPr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We end up with the candidate locations to be evaluated</a:t>
            </a:r>
          </a:p>
          <a:p>
            <a:pPr marL="596900" lvl="1" indent="0">
              <a:buClr>
                <a:schemeClr val="lt2"/>
              </a:buClr>
              <a:buNone/>
            </a:pPr>
            <a:endParaRPr lang="en-US" dirty="0"/>
          </a:p>
        </p:txBody>
      </p:sp>
      <p:sp>
        <p:nvSpPr>
          <p:cNvPr id="6" name="Google Shape;70;p17">
            <a:extLst>
              <a:ext uri="{FF2B5EF4-FFF2-40B4-BE49-F238E27FC236}">
                <a16:creationId xmlns:a16="http://schemas.microsoft.com/office/drawing/2014/main" id="{A94EAB93-85A1-4A69-8D4B-0BCA7CDB96DF}"/>
              </a:ext>
            </a:extLst>
          </p:cNvPr>
          <p:cNvSpPr txBox="1">
            <a:spLocks/>
          </p:cNvSpPr>
          <p:nvPr/>
        </p:nvSpPr>
        <p:spPr>
          <a:xfrm>
            <a:off x="720000" y="34553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 dirty="0"/>
              <a:t>Candidate Fetching</a:t>
            </a:r>
          </a:p>
        </p:txBody>
      </p:sp>
    </p:spTree>
    <p:extLst>
      <p:ext uri="{BB962C8B-B14F-4D97-AF65-F5344CB8AC3E}">
        <p14:creationId xmlns:p14="http://schemas.microsoft.com/office/powerpoint/2010/main" val="166756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000" y="3455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Machine Learning Model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C5B66-29D8-482C-AAEC-291E24D2B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22" y="1194736"/>
            <a:ext cx="6346556" cy="340023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151E6D3-693C-4311-A5FD-13F8A07D5EAB}"/>
              </a:ext>
            </a:extLst>
          </p:cNvPr>
          <p:cNvSpPr/>
          <p:nvPr/>
        </p:nvSpPr>
        <p:spPr>
          <a:xfrm>
            <a:off x="4347275" y="844658"/>
            <a:ext cx="3398003" cy="12166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80905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15100" y="1465610"/>
            <a:ext cx="6913800" cy="2261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ML model </a:t>
            </a:r>
            <a:r>
              <a:rPr lang="en-US" b="1" dirty="0">
                <a:solidFill>
                  <a:schemeClr val="lt2"/>
                </a:solidFill>
              </a:rPr>
              <a:t>trained on historical data </a:t>
            </a:r>
            <a:r>
              <a:rPr lang="en-US" dirty="0">
                <a:solidFill>
                  <a:schemeClr val="lt2"/>
                </a:solidFill>
              </a:rPr>
              <a:t>to predict a success indicator</a:t>
            </a:r>
          </a:p>
          <a:p>
            <a:pPr lvl="1">
              <a:spcBef>
                <a:spcPts val="1000"/>
              </a:spcBef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Deep Learning model</a:t>
            </a:r>
          </a:p>
          <a:p>
            <a:pPr lvl="1"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Gradient Boosting model</a:t>
            </a:r>
          </a:p>
          <a:p>
            <a:pPr lvl="1"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Other …</a:t>
            </a:r>
            <a:endParaRPr dirty="0">
              <a:solidFill>
                <a:schemeClr val="lt2"/>
              </a:solidFill>
            </a:endParaRPr>
          </a:p>
          <a:p>
            <a:pPr>
              <a:spcBef>
                <a:spcPts val="1000"/>
              </a:spcBef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Scores used as ranking criteria</a:t>
            </a:r>
          </a:p>
          <a:p>
            <a:pPr>
              <a:spcBef>
                <a:spcPts val="1000"/>
              </a:spcBef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We keep only the top-k scores as the final suggestions</a:t>
            </a:r>
          </a:p>
        </p:txBody>
      </p:sp>
      <p:sp>
        <p:nvSpPr>
          <p:cNvPr id="6" name="Google Shape;70;p17">
            <a:extLst>
              <a:ext uri="{FF2B5EF4-FFF2-40B4-BE49-F238E27FC236}">
                <a16:creationId xmlns:a16="http://schemas.microsoft.com/office/drawing/2014/main" id="{A94EAB93-85A1-4A69-8D4B-0BCA7CDB96DF}"/>
              </a:ext>
            </a:extLst>
          </p:cNvPr>
          <p:cNvSpPr txBox="1">
            <a:spLocks/>
          </p:cNvSpPr>
          <p:nvPr/>
        </p:nvSpPr>
        <p:spPr>
          <a:xfrm>
            <a:off x="720000" y="34553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 dirty="0"/>
              <a:t>Machine Learning Model</a:t>
            </a:r>
          </a:p>
        </p:txBody>
      </p:sp>
    </p:spTree>
    <p:extLst>
      <p:ext uri="{BB962C8B-B14F-4D97-AF65-F5344CB8AC3E}">
        <p14:creationId xmlns:p14="http://schemas.microsoft.com/office/powerpoint/2010/main" val="4177631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000" y="3455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Retrieval-Augmented Generation (RAG)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C5B66-29D8-482C-AAEC-291E24D2B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22" y="1194736"/>
            <a:ext cx="6346556" cy="340023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49C0E16-66A8-434F-AF44-3BCB78BD5E94}"/>
              </a:ext>
            </a:extLst>
          </p:cNvPr>
          <p:cNvSpPr/>
          <p:nvPr/>
        </p:nvSpPr>
        <p:spPr>
          <a:xfrm>
            <a:off x="4355024" y="1872103"/>
            <a:ext cx="3552987" cy="21962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58858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15100" y="1465610"/>
            <a:ext cx="6913800" cy="2091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We query a database to get </a:t>
            </a:r>
            <a:r>
              <a:rPr lang="en-US" b="1" dirty="0">
                <a:solidFill>
                  <a:schemeClr val="lt2"/>
                </a:solidFill>
              </a:rPr>
              <a:t>relevant data </a:t>
            </a:r>
            <a:r>
              <a:rPr lang="en-US" dirty="0">
                <a:solidFill>
                  <a:schemeClr val="lt2"/>
                </a:solidFill>
              </a:rPr>
              <a:t>for each candidate (documents/data)</a:t>
            </a:r>
          </a:p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We pass them as a combined prompt to the LLM to generate the final output</a:t>
            </a:r>
          </a:p>
          <a:p>
            <a:pPr lvl="1">
              <a:spcBef>
                <a:spcPts val="1000"/>
              </a:spcBef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Gives </a:t>
            </a:r>
            <a:r>
              <a:rPr lang="en-US" b="1" dirty="0"/>
              <a:t>context</a:t>
            </a:r>
            <a:r>
              <a:rPr lang="en-US" dirty="0"/>
              <a:t> for the suggestions</a:t>
            </a:r>
          </a:p>
          <a:p>
            <a:pPr lvl="1"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Allows LLM to use </a:t>
            </a:r>
            <a:r>
              <a:rPr lang="en-US" b="1" dirty="0"/>
              <a:t>domain-specific</a:t>
            </a:r>
            <a:r>
              <a:rPr lang="en-US" dirty="0"/>
              <a:t> information</a:t>
            </a:r>
          </a:p>
          <a:p>
            <a:pPr lvl="1"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Makes the model able to </a:t>
            </a:r>
            <a:r>
              <a:rPr lang="en-US" b="1" dirty="0"/>
              <a:t>update</a:t>
            </a:r>
            <a:r>
              <a:rPr lang="en-US" dirty="0"/>
              <a:t> the information</a:t>
            </a:r>
          </a:p>
          <a:p>
            <a:pPr lvl="1">
              <a:buClr>
                <a:schemeClr val="lt2"/>
              </a:buClr>
              <a:buFont typeface="Fira Sans Condensed"/>
              <a:buChar char="○"/>
            </a:pPr>
            <a:r>
              <a:rPr lang="en-US" dirty="0">
                <a:solidFill>
                  <a:schemeClr val="lt2"/>
                </a:solidFill>
              </a:rPr>
              <a:t>Gives </a:t>
            </a:r>
            <a:r>
              <a:rPr lang="en-US" dirty="0"/>
              <a:t>more </a:t>
            </a:r>
            <a:r>
              <a:rPr lang="en-US" b="1" dirty="0"/>
              <a:t>interpretable </a:t>
            </a:r>
            <a:r>
              <a:rPr lang="en-US" b="1" dirty="0">
                <a:solidFill>
                  <a:schemeClr val="lt2"/>
                </a:solidFill>
              </a:rPr>
              <a:t>responses </a:t>
            </a:r>
            <a:r>
              <a:rPr lang="en-US" dirty="0">
                <a:solidFill>
                  <a:schemeClr val="lt2"/>
                </a:solidFill>
              </a:rPr>
              <a:t>to the user</a:t>
            </a:r>
            <a:endParaRPr dirty="0">
              <a:solidFill>
                <a:schemeClr val="lt2"/>
              </a:solidFill>
            </a:endParaRPr>
          </a:p>
          <a:p>
            <a:pPr>
              <a:spcBef>
                <a:spcPts val="1000"/>
              </a:spcBef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Final output passed back to the user</a:t>
            </a:r>
          </a:p>
        </p:txBody>
      </p:sp>
      <p:sp>
        <p:nvSpPr>
          <p:cNvPr id="6" name="Google Shape;70;p17">
            <a:extLst>
              <a:ext uri="{FF2B5EF4-FFF2-40B4-BE49-F238E27FC236}">
                <a16:creationId xmlns:a16="http://schemas.microsoft.com/office/drawing/2014/main" id="{A94EAB93-85A1-4A69-8D4B-0BCA7CDB96DF}"/>
              </a:ext>
            </a:extLst>
          </p:cNvPr>
          <p:cNvSpPr txBox="1">
            <a:spLocks/>
          </p:cNvSpPr>
          <p:nvPr/>
        </p:nvSpPr>
        <p:spPr>
          <a:xfrm>
            <a:off x="720000" y="34553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 dirty="0"/>
              <a:t>Retrieval-Augmented Generation (RAG)</a:t>
            </a:r>
          </a:p>
        </p:txBody>
      </p:sp>
    </p:spTree>
    <p:extLst>
      <p:ext uri="{BB962C8B-B14F-4D97-AF65-F5344CB8AC3E}">
        <p14:creationId xmlns:p14="http://schemas.microsoft.com/office/powerpoint/2010/main" val="3726793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Suggested Framework Recap</a:t>
            </a:r>
            <a:endParaRPr dirty="0"/>
          </a:p>
        </p:txBody>
      </p:sp>
      <p:sp>
        <p:nvSpPr>
          <p:cNvPr id="93" name="Google Shape;93;p18"/>
          <p:cNvSpPr/>
          <p:nvPr/>
        </p:nvSpPr>
        <p:spPr>
          <a:xfrm>
            <a:off x="1594712" y="2564697"/>
            <a:ext cx="126900" cy="126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3537346" y="2564697"/>
            <a:ext cx="126900" cy="126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5479979" y="2564697"/>
            <a:ext cx="126900" cy="126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7422612" y="2564697"/>
            <a:ext cx="126900" cy="1269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7" name="Google Shape;97;p18"/>
          <p:cNvCxnSpPr>
            <a:stCxn id="93" idx="6"/>
            <a:endCxn id="94" idx="2"/>
          </p:cNvCxnSpPr>
          <p:nvPr/>
        </p:nvCxnSpPr>
        <p:spPr>
          <a:xfrm>
            <a:off x="1721612" y="2628147"/>
            <a:ext cx="1815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8"/>
          <p:cNvCxnSpPr>
            <a:stCxn id="94" idx="6"/>
            <a:endCxn id="95" idx="2"/>
          </p:cNvCxnSpPr>
          <p:nvPr/>
        </p:nvCxnSpPr>
        <p:spPr>
          <a:xfrm>
            <a:off x="3664246" y="2628147"/>
            <a:ext cx="1815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8"/>
          <p:cNvCxnSpPr>
            <a:stCxn id="95" idx="6"/>
            <a:endCxn id="96" idx="2"/>
          </p:cNvCxnSpPr>
          <p:nvPr/>
        </p:nvCxnSpPr>
        <p:spPr>
          <a:xfrm>
            <a:off x="5606879" y="2628147"/>
            <a:ext cx="1815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8"/>
          <p:cNvCxnSpPr>
            <a:cxnSpLocks/>
            <a:stCxn id="93" idx="4"/>
          </p:cNvCxnSpPr>
          <p:nvPr/>
        </p:nvCxnSpPr>
        <p:spPr>
          <a:xfrm>
            <a:off x="1658162" y="2691597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8"/>
          <p:cNvCxnSpPr>
            <a:cxnSpLocks/>
            <a:stCxn id="94" idx="4"/>
          </p:cNvCxnSpPr>
          <p:nvPr/>
        </p:nvCxnSpPr>
        <p:spPr>
          <a:xfrm>
            <a:off x="3600796" y="2691597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8"/>
          <p:cNvCxnSpPr>
            <a:cxnSpLocks/>
            <a:stCxn id="95" idx="4"/>
          </p:cNvCxnSpPr>
          <p:nvPr/>
        </p:nvCxnSpPr>
        <p:spPr>
          <a:xfrm>
            <a:off x="5543429" y="2691597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8"/>
          <p:cNvCxnSpPr>
            <a:cxnSpLocks/>
            <a:stCxn id="96" idx="4"/>
          </p:cNvCxnSpPr>
          <p:nvPr/>
        </p:nvCxnSpPr>
        <p:spPr>
          <a:xfrm>
            <a:off x="7486062" y="2691597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8"/>
          <p:cNvSpPr/>
          <p:nvPr/>
        </p:nvSpPr>
        <p:spPr>
          <a:xfrm>
            <a:off x="1479306" y="3987366"/>
            <a:ext cx="357688" cy="357339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" name="Google Shape;109;p18"/>
          <p:cNvGrpSpPr/>
          <p:nvPr/>
        </p:nvGrpSpPr>
        <p:grpSpPr>
          <a:xfrm>
            <a:off x="7300109" y="3983191"/>
            <a:ext cx="371883" cy="365691"/>
            <a:chOff x="860940" y="2746477"/>
            <a:chExt cx="371883" cy="365691"/>
          </a:xfrm>
        </p:grpSpPr>
        <p:sp>
          <p:nvSpPr>
            <p:cNvPr id="110" name="Google Shape;110;p18"/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8"/>
          <p:cNvSpPr/>
          <p:nvPr/>
        </p:nvSpPr>
        <p:spPr>
          <a:xfrm>
            <a:off x="5365319" y="4001831"/>
            <a:ext cx="356196" cy="328410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" name="Google Shape;116;p18"/>
          <p:cNvGrpSpPr/>
          <p:nvPr/>
        </p:nvGrpSpPr>
        <p:grpSpPr>
          <a:xfrm>
            <a:off x="3413429" y="3979031"/>
            <a:ext cx="374709" cy="374010"/>
            <a:chOff x="1421638" y="4125629"/>
            <a:chExt cx="374709" cy="374010"/>
          </a:xfrm>
        </p:grpSpPr>
        <p:sp>
          <p:nvSpPr>
            <p:cNvPr id="117" name="Google Shape;117;p18"/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8"/>
          <p:cNvGrpSpPr/>
          <p:nvPr/>
        </p:nvGrpSpPr>
        <p:grpSpPr>
          <a:xfrm>
            <a:off x="716400" y="1606619"/>
            <a:ext cx="1883100" cy="2084278"/>
            <a:chOff x="716400" y="1606619"/>
            <a:chExt cx="1883100" cy="2084278"/>
          </a:xfrm>
        </p:grpSpPr>
        <p:sp>
          <p:nvSpPr>
            <p:cNvPr id="120" name="Google Shape;120;p18"/>
            <p:cNvSpPr txBox="1"/>
            <p:nvPr/>
          </p:nvSpPr>
          <p:spPr>
            <a:xfrm>
              <a:off x="716400" y="3142197"/>
              <a:ext cx="18831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“</a:t>
              </a: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Where can I open a café in Volos?</a:t>
              </a:r>
              <a:r>
                <a:rPr lang="en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”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121" name="Google Shape;121;p18"/>
            <p:cNvSpPr txBox="1"/>
            <p:nvPr/>
          </p:nvSpPr>
          <p:spPr>
            <a:xfrm>
              <a:off x="716400" y="1606619"/>
              <a:ext cx="188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User Input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122" name="Google Shape;122;p18"/>
          <p:cNvGrpSpPr/>
          <p:nvPr/>
        </p:nvGrpSpPr>
        <p:grpSpPr>
          <a:xfrm>
            <a:off x="2656772" y="1425028"/>
            <a:ext cx="1885561" cy="2221428"/>
            <a:chOff x="2656772" y="1425028"/>
            <a:chExt cx="1885561" cy="2221428"/>
          </a:xfrm>
        </p:grpSpPr>
        <p:sp>
          <p:nvSpPr>
            <p:cNvPr id="123" name="Google Shape;123;p18"/>
            <p:cNvSpPr txBox="1"/>
            <p:nvPr/>
          </p:nvSpPr>
          <p:spPr>
            <a:xfrm>
              <a:off x="2656772" y="3248588"/>
              <a:ext cx="1883100" cy="3978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N candidates (e.g. 50)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124" name="Google Shape;124;p18"/>
            <p:cNvSpPr txBox="1"/>
            <p:nvPr/>
          </p:nvSpPr>
          <p:spPr>
            <a:xfrm>
              <a:off x="2659233" y="1425028"/>
              <a:ext cx="1883100" cy="822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Candidate Fetching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125" name="Google Shape;125;p18"/>
          <p:cNvGrpSpPr/>
          <p:nvPr/>
        </p:nvGrpSpPr>
        <p:grpSpPr>
          <a:xfrm>
            <a:off x="4601867" y="1436025"/>
            <a:ext cx="1885361" cy="2385510"/>
            <a:chOff x="4601867" y="1436025"/>
            <a:chExt cx="1885361" cy="2385510"/>
          </a:xfrm>
        </p:grpSpPr>
        <p:sp>
          <p:nvSpPr>
            <p:cNvPr id="126" name="Google Shape;126;p18"/>
            <p:cNvSpPr txBox="1"/>
            <p:nvPr/>
          </p:nvSpPr>
          <p:spPr>
            <a:xfrm>
              <a:off x="4604128" y="3076035"/>
              <a:ext cx="1883100" cy="74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Ranking based on scores, keeping top-K (e.g. 5)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4601867" y="1436025"/>
              <a:ext cx="1883100" cy="811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ML Scoring Model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128" name="Google Shape;128;p18"/>
          <p:cNvGrpSpPr/>
          <p:nvPr/>
        </p:nvGrpSpPr>
        <p:grpSpPr>
          <a:xfrm>
            <a:off x="6541000" y="1578124"/>
            <a:ext cx="1883100" cy="2282286"/>
            <a:chOff x="6541000" y="1578124"/>
            <a:chExt cx="1883100" cy="2282286"/>
          </a:xfrm>
        </p:grpSpPr>
        <p:sp>
          <p:nvSpPr>
            <p:cNvPr id="130" name="Google Shape;130;p18"/>
            <p:cNvSpPr txBox="1"/>
            <p:nvPr/>
          </p:nvSpPr>
          <p:spPr>
            <a:xfrm>
              <a:off x="6541000" y="3067973"/>
              <a:ext cx="1883100" cy="7924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Final output “The top 5 locations to open a café in Volos are: …”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131" name="Google Shape;131;p18"/>
            <p:cNvSpPr txBox="1"/>
            <p:nvPr/>
          </p:nvSpPr>
          <p:spPr>
            <a:xfrm>
              <a:off x="6541000" y="1578124"/>
              <a:ext cx="1883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RAG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cxnSp>
        <p:nvCxnSpPr>
          <p:cNvPr id="132" name="Google Shape;132;p18"/>
          <p:cNvCxnSpPr>
            <a:stCxn id="93" idx="0"/>
            <a:endCxn id="121" idx="2"/>
          </p:cNvCxnSpPr>
          <p:nvPr/>
        </p:nvCxnSpPr>
        <p:spPr>
          <a:xfrm flipH="1" flipV="1">
            <a:off x="1657950" y="2063819"/>
            <a:ext cx="212" cy="500878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18"/>
          <p:cNvCxnSpPr>
            <a:cxnSpLocks/>
            <a:stCxn id="94" idx="0"/>
            <a:endCxn id="124" idx="2"/>
          </p:cNvCxnSpPr>
          <p:nvPr/>
        </p:nvCxnSpPr>
        <p:spPr>
          <a:xfrm flipH="1" flipV="1">
            <a:off x="3600783" y="2247499"/>
            <a:ext cx="13" cy="317198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8"/>
          <p:cNvCxnSpPr>
            <a:cxnSpLocks/>
            <a:stCxn id="95" idx="0"/>
            <a:endCxn id="127" idx="2"/>
          </p:cNvCxnSpPr>
          <p:nvPr/>
        </p:nvCxnSpPr>
        <p:spPr>
          <a:xfrm flipH="1" flipV="1">
            <a:off x="5543417" y="2247499"/>
            <a:ext cx="12" cy="317198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18"/>
          <p:cNvCxnSpPr>
            <a:stCxn id="96" idx="0"/>
            <a:endCxn id="131" idx="2"/>
          </p:cNvCxnSpPr>
          <p:nvPr/>
        </p:nvCxnSpPr>
        <p:spPr>
          <a:xfrm flipH="1" flipV="1">
            <a:off x="7482550" y="2035324"/>
            <a:ext cx="3512" cy="529373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000" y="3455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Dynamic Behavior of the System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C5B66-29D8-482C-AAEC-291E24D2B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722" y="1194736"/>
            <a:ext cx="6346556" cy="340023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538D863-90BD-4E8A-8710-BB815FFC3013}"/>
              </a:ext>
            </a:extLst>
          </p:cNvPr>
          <p:cNvSpPr/>
          <p:nvPr/>
        </p:nvSpPr>
        <p:spPr>
          <a:xfrm>
            <a:off x="3285640" y="2894855"/>
            <a:ext cx="1224366" cy="9996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166131-F625-432E-9306-E5A351DF263A}"/>
              </a:ext>
            </a:extLst>
          </p:cNvPr>
          <p:cNvSpPr/>
          <p:nvPr/>
        </p:nvSpPr>
        <p:spPr>
          <a:xfrm>
            <a:off x="4633996" y="2894855"/>
            <a:ext cx="1224366" cy="9996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03664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15100" y="1465610"/>
            <a:ext cx="6913800" cy="2091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The </a:t>
            </a:r>
            <a:r>
              <a:rPr lang="en-US" b="1" dirty="0">
                <a:solidFill>
                  <a:schemeClr val="lt2"/>
                </a:solidFill>
              </a:rPr>
              <a:t>ML model </a:t>
            </a:r>
            <a:r>
              <a:rPr lang="en-US" dirty="0">
                <a:solidFill>
                  <a:schemeClr val="lt2"/>
                </a:solidFill>
              </a:rPr>
              <a:t>and the </a:t>
            </a:r>
            <a:r>
              <a:rPr lang="en-US" b="1" dirty="0">
                <a:solidFill>
                  <a:schemeClr val="lt2"/>
                </a:solidFill>
              </a:rPr>
              <a:t>LLM</a:t>
            </a:r>
            <a:r>
              <a:rPr lang="en-US" dirty="0">
                <a:solidFill>
                  <a:schemeClr val="lt2"/>
                </a:solidFill>
              </a:rPr>
              <a:t> are trained once</a:t>
            </a:r>
          </a:p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We can just update the databases to make the system suitable for predictions in different cities</a:t>
            </a:r>
          </a:p>
          <a:p>
            <a:pPr lvl="1">
              <a:spcBef>
                <a:spcPts val="1000"/>
              </a:spcBef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Add candidates for other cities (e.g. Athens)</a:t>
            </a:r>
          </a:p>
          <a:p>
            <a:pPr lvl="1"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Add documents for other cities for RAG</a:t>
            </a:r>
          </a:p>
          <a:p>
            <a:pPr>
              <a:spcBef>
                <a:spcPts val="1000"/>
              </a:spcBef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The workflow is identical -&gt; dynamic based on the </a:t>
            </a:r>
            <a:r>
              <a:rPr lang="en-US" dirty="0"/>
              <a:t>entries of the databases</a:t>
            </a:r>
            <a:endParaRPr lang="en-US" dirty="0">
              <a:solidFill>
                <a:schemeClr val="lt2"/>
              </a:solidFill>
            </a:endParaRPr>
          </a:p>
        </p:txBody>
      </p:sp>
      <p:sp>
        <p:nvSpPr>
          <p:cNvPr id="6" name="Google Shape;70;p17">
            <a:extLst>
              <a:ext uri="{FF2B5EF4-FFF2-40B4-BE49-F238E27FC236}">
                <a16:creationId xmlns:a16="http://schemas.microsoft.com/office/drawing/2014/main" id="{A94EAB93-85A1-4A69-8D4B-0BCA7CDB96DF}"/>
              </a:ext>
            </a:extLst>
          </p:cNvPr>
          <p:cNvSpPr txBox="1">
            <a:spLocks/>
          </p:cNvSpPr>
          <p:nvPr/>
        </p:nvSpPr>
        <p:spPr>
          <a:xfrm>
            <a:off x="720000" y="34553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 dirty="0"/>
              <a:t>Dynamic Behavior of the System</a:t>
            </a:r>
          </a:p>
        </p:txBody>
      </p:sp>
    </p:spTree>
    <p:extLst>
      <p:ext uri="{BB962C8B-B14F-4D97-AF65-F5344CB8AC3E}">
        <p14:creationId xmlns:p14="http://schemas.microsoft.com/office/powerpoint/2010/main" val="2650941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07351" y="1070403"/>
            <a:ext cx="7044758" cy="1781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Integration of a </a:t>
            </a:r>
            <a:r>
              <a:rPr lang="en-US" b="1" dirty="0">
                <a:solidFill>
                  <a:schemeClr val="lt2"/>
                </a:solidFill>
              </a:rPr>
              <a:t>Reinforcement Learning agent</a:t>
            </a:r>
            <a:r>
              <a:rPr lang="en-US" dirty="0">
                <a:solidFill>
                  <a:schemeClr val="lt2"/>
                </a:solidFill>
              </a:rPr>
              <a:t>, possibly instead of the ML model</a:t>
            </a:r>
          </a:p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RL agents can </a:t>
            </a:r>
            <a:r>
              <a:rPr lang="en-US" b="1" dirty="0">
                <a:solidFill>
                  <a:schemeClr val="lt2"/>
                </a:solidFill>
              </a:rPr>
              <a:t>learn by feedback</a:t>
            </a:r>
          </a:p>
          <a:p>
            <a:pPr lvl="1">
              <a:spcBef>
                <a:spcPts val="1000"/>
              </a:spcBef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From simulations</a:t>
            </a:r>
          </a:p>
          <a:p>
            <a:pPr lvl="1">
              <a:buClr>
                <a:schemeClr val="lt2"/>
              </a:buClr>
              <a:buFont typeface="Fira Sans Condensed"/>
              <a:buChar char="○"/>
            </a:pPr>
            <a:r>
              <a:rPr lang="en-US" dirty="0"/>
              <a:t>From real-world applications</a:t>
            </a:r>
          </a:p>
          <a:p>
            <a:pPr>
              <a:spcBef>
                <a:spcPts val="1000"/>
              </a:spcBef>
              <a:buClr>
                <a:schemeClr val="lt2"/>
              </a:buClr>
              <a:buFont typeface="Fira Sans Condensed"/>
              <a:buChar char="●"/>
            </a:pPr>
            <a:r>
              <a:rPr lang="en-US" dirty="0">
                <a:solidFill>
                  <a:schemeClr val="lt2"/>
                </a:solidFill>
              </a:rPr>
              <a:t>RL algorithms: </a:t>
            </a:r>
            <a:r>
              <a:rPr lang="en-US" dirty="0"/>
              <a:t>Q-learning/Deep Q-Networks (DQN)/Proximal Policy Optimization (PPO)</a:t>
            </a:r>
          </a:p>
          <a:p>
            <a:pPr>
              <a:spcBef>
                <a:spcPts val="1000"/>
              </a:spcBef>
              <a:buClr>
                <a:schemeClr val="lt2"/>
              </a:buClr>
              <a:buFont typeface="Fira Sans Condensed"/>
              <a:buChar char="●"/>
            </a:pPr>
            <a:endParaRPr lang="en-US" dirty="0">
              <a:solidFill>
                <a:schemeClr val="lt2"/>
              </a:solidFill>
            </a:endParaRPr>
          </a:p>
        </p:txBody>
      </p:sp>
      <p:sp>
        <p:nvSpPr>
          <p:cNvPr id="6" name="Google Shape;70;p17">
            <a:extLst>
              <a:ext uri="{FF2B5EF4-FFF2-40B4-BE49-F238E27FC236}">
                <a16:creationId xmlns:a16="http://schemas.microsoft.com/office/drawing/2014/main" id="{A94EAB93-85A1-4A69-8D4B-0BCA7CDB96DF}"/>
              </a:ext>
            </a:extLst>
          </p:cNvPr>
          <p:cNvSpPr txBox="1">
            <a:spLocks/>
          </p:cNvSpPr>
          <p:nvPr/>
        </p:nvSpPr>
        <p:spPr>
          <a:xfrm>
            <a:off x="720000" y="34553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n-US" dirty="0"/>
              <a:t>Future Direction – Reinforcement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1728D-6BD0-4FFC-AFC4-BF31F7AAD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387" y="3097174"/>
            <a:ext cx="4571225" cy="170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44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0"/>
          <p:cNvSpPr txBox="1">
            <a:spLocks noGrp="1"/>
          </p:cNvSpPr>
          <p:nvPr>
            <p:ph type="title"/>
          </p:nvPr>
        </p:nvSpPr>
        <p:spPr>
          <a:xfrm>
            <a:off x="720100" y="45422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Questions</a:t>
            </a:r>
            <a:endParaRPr dirty="0"/>
          </a:p>
        </p:txBody>
      </p:sp>
      <p:sp>
        <p:nvSpPr>
          <p:cNvPr id="698" name="Google Shape;698;p30"/>
          <p:cNvSpPr/>
          <p:nvPr/>
        </p:nvSpPr>
        <p:spPr>
          <a:xfrm>
            <a:off x="4501300" y="1621527"/>
            <a:ext cx="155100" cy="155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0"/>
          <p:cNvSpPr/>
          <p:nvPr/>
        </p:nvSpPr>
        <p:spPr>
          <a:xfrm>
            <a:off x="4501300" y="2691743"/>
            <a:ext cx="155100" cy="155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0"/>
          <p:cNvSpPr/>
          <p:nvPr/>
        </p:nvSpPr>
        <p:spPr>
          <a:xfrm>
            <a:off x="4501300" y="2156635"/>
            <a:ext cx="155100" cy="155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0"/>
          <p:cNvSpPr/>
          <p:nvPr/>
        </p:nvSpPr>
        <p:spPr>
          <a:xfrm>
            <a:off x="4501300" y="3226851"/>
            <a:ext cx="155100" cy="155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0"/>
          <p:cNvSpPr/>
          <p:nvPr/>
        </p:nvSpPr>
        <p:spPr>
          <a:xfrm>
            <a:off x="4501300" y="3761959"/>
            <a:ext cx="155100" cy="155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03" name="Google Shape;703;p30"/>
          <p:cNvCxnSpPr>
            <a:stCxn id="698" idx="4"/>
            <a:endCxn id="700" idx="0"/>
          </p:cNvCxnSpPr>
          <p:nvPr/>
        </p:nvCxnSpPr>
        <p:spPr>
          <a:xfrm>
            <a:off x="4578850" y="1776627"/>
            <a:ext cx="0" cy="380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4" name="Google Shape;704;p30"/>
          <p:cNvCxnSpPr>
            <a:stCxn id="700" idx="4"/>
            <a:endCxn id="699" idx="0"/>
          </p:cNvCxnSpPr>
          <p:nvPr/>
        </p:nvCxnSpPr>
        <p:spPr>
          <a:xfrm>
            <a:off x="4578850" y="2311735"/>
            <a:ext cx="0" cy="380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5" name="Google Shape;705;p30"/>
          <p:cNvCxnSpPr>
            <a:stCxn id="699" idx="4"/>
            <a:endCxn id="701" idx="0"/>
          </p:cNvCxnSpPr>
          <p:nvPr/>
        </p:nvCxnSpPr>
        <p:spPr>
          <a:xfrm>
            <a:off x="4578850" y="2846843"/>
            <a:ext cx="0" cy="380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" name="Google Shape;706;p30"/>
          <p:cNvCxnSpPr>
            <a:stCxn id="701" idx="4"/>
            <a:endCxn id="702" idx="0"/>
          </p:cNvCxnSpPr>
          <p:nvPr/>
        </p:nvCxnSpPr>
        <p:spPr>
          <a:xfrm>
            <a:off x="4578850" y="3381951"/>
            <a:ext cx="0" cy="380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07" name="Google Shape;707;p30"/>
          <p:cNvGrpSpPr/>
          <p:nvPr/>
        </p:nvGrpSpPr>
        <p:grpSpPr>
          <a:xfrm>
            <a:off x="720100" y="1470476"/>
            <a:ext cx="3384805" cy="739540"/>
            <a:chOff x="720250" y="1718449"/>
            <a:chExt cx="3384805" cy="739541"/>
          </a:xfrm>
        </p:grpSpPr>
        <p:grpSp>
          <p:nvGrpSpPr>
            <p:cNvPr id="708" name="Google Shape;708;p30"/>
            <p:cNvGrpSpPr/>
            <p:nvPr/>
          </p:nvGrpSpPr>
          <p:grpSpPr>
            <a:xfrm>
              <a:off x="720250" y="1718450"/>
              <a:ext cx="2210100" cy="739540"/>
              <a:chOff x="720250" y="1718450"/>
              <a:chExt cx="2210100" cy="739540"/>
            </a:xfrm>
          </p:grpSpPr>
          <p:sp>
            <p:nvSpPr>
              <p:cNvPr id="709" name="Google Shape;709;p30"/>
              <p:cNvSpPr txBox="1"/>
              <p:nvPr/>
            </p:nvSpPr>
            <p:spPr>
              <a:xfrm>
                <a:off x="720250" y="1973490"/>
                <a:ext cx="22101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Real/synthetic data?</a:t>
                </a:r>
                <a:endParaRPr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endParaRPr>
              </a:p>
            </p:txBody>
          </p:sp>
          <p:sp>
            <p:nvSpPr>
              <p:cNvPr id="710" name="Google Shape;710;p30"/>
              <p:cNvSpPr txBox="1"/>
              <p:nvPr/>
            </p:nvSpPr>
            <p:spPr>
              <a:xfrm>
                <a:off x="720250" y="1718450"/>
                <a:ext cx="221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Candidates Database </a:t>
                </a:r>
                <a:endParaRPr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endParaRPr>
              </a:p>
            </p:txBody>
          </p:sp>
        </p:grpSp>
        <p:sp>
          <p:nvSpPr>
            <p:cNvPr id="711" name="Google Shape;711;p30"/>
            <p:cNvSpPr txBox="1"/>
            <p:nvPr/>
          </p:nvSpPr>
          <p:spPr>
            <a:xfrm>
              <a:off x="3373655" y="1718449"/>
              <a:ext cx="73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01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712" name="Google Shape;712;p30"/>
          <p:cNvGrpSpPr/>
          <p:nvPr/>
        </p:nvGrpSpPr>
        <p:grpSpPr>
          <a:xfrm>
            <a:off x="5052730" y="2006580"/>
            <a:ext cx="3773550" cy="738252"/>
            <a:chOff x="5052880" y="2254552"/>
            <a:chExt cx="3773550" cy="738252"/>
          </a:xfrm>
        </p:grpSpPr>
        <p:grpSp>
          <p:nvGrpSpPr>
            <p:cNvPr id="713" name="Google Shape;713;p30"/>
            <p:cNvGrpSpPr/>
            <p:nvPr/>
          </p:nvGrpSpPr>
          <p:grpSpPr>
            <a:xfrm>
              <a:off x="6227649" y="2254552"/>
              <a:ext cx="2598781" cy="738252"/>
              <a:chOff x="6227649" y="2254552"/>
              <a:chExt cx="2598781" cy="738252"/>
            </a:xfrm>
          </p:grpSpPr>
          <p:sp>
            <p:nvSpPr>
              <p:cNvPr id="714" name="Google Shape;714;p30"/>
              <p:cNvSpPr txBox="1"/>
              <p:nvPr/>
            </p:nvSpPr>
            <p:spPr>
              <a:xfrm>
                <a:off x="6227650" y="2254552"/>
                <a:ext cx="221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ML model training data</a:t>
                </a:r>
                <a:endParaRPr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endParaRPr>
              </a:p>
            </p:txBody>
          </p:sp>
          <p:sp>
            <p:nvSpPr>
              <p:cNvPr id="715" name="Google Shape;715;p30"/>
              <p:cNvSpPr txBox="1"/>
              <p:nvPr/>
            </p:nvSpPr>
            <p:spPr>
              <a:xfrm>
                <a:off x="6227649" y="2508304"/>
                <a:ext cx="2598781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Only active years exist as a success indicator, not economic</a:t>
                </a:r>
                <a:endParaRPr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endParaRPr>
              </a:p>
            </p:txBody>
          </p:sp>
        </p:grpSp>
        <p:sp>
          <p:nvSpPr>
            <p:cNvPr id="716" name="Google Shape;716;p30"/>
            <p:cNvSpPr txBox="1"/>
            <p:nvPr/>
          </p:nvSpPr>
          <p:spPr>
            <a:xfrm>
              <a:off x="5052880" y="2254552"/>
              <a:ext cx="73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02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717" name="Google Shape;717;p30"/>
          <p:cNvGrpSpPr/>
          <p:nvPr/>
        </p:nvGrpSpPr>
        <p:grpSpPr>
          <a:xfrm>
            <a:off x="488201" y="2538393"/>
            <a:ext cx="3616704" cy="741254"/>
            <a:chOff x="488351" y="2786365"/>
            <a:chExt cx="3616704" cy="741254"/>
          </a:xfrm>
        </p:grpSpPr>
        <p:grpSp>
          <p:nvGrpSpPr>
            <p:cNvPr id="718" name="Google Shape;718;p30"/>
            <p:cNvGrpSpPr/>
            <p:nvPr/>
          </p:nvGrpSpPr>
          <p:grpSpPr>
            <a:xfrm>
              <a:off x="488351" y="2786365"/>
              <a:ext cx="2441999" cy="741254"/>
              <a:chOff x="488351" y="2786365"/>
              <a:chExt cx="2441999" cy="741254"/>
            </a:xfrm>
          </p:grpSpPr>
          <p:sp>
            <p:nvSpPr>
              <p:cNvPr id="719" name="Google Shape;719;p30"/>
              <p:cNvSpPr txBox="1"/>
              <p:nvPr/>
            </p:nvSpPr>
            <p:spPr>
              <a:xfrm>
                <a:off x="720250" y="2786365"/>
                <a:ext cx="221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Multiple Databases</a:t>
                </a:r>
                <a:endParaRPr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endParaRPr>
              </a:p>
            </p:txBody>
          </p:sp>
          <p:sp>
            <p:nvSpPr>
              <p:cNvPr id="720" name="Google Shape;720;p30"/>
              <p:cNvSpPr txBox="1"/>
              <p:nvPr/>
            </p:nvSpPr>
            <p:spPr>
              <a:xfrm>
                <a:off x="488351" y="3043119"/>
                <a:ext cx="2441999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Do we need a different database for RAG (documents)</a:t>
                </a:r>
                <a:endParaRPr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endParaRPr>
              </a:p>
            </p:txBody>
          </p:sp>
        </p:grpSp>
        <p:sp>
          <p:nvSpPr>
            <p:cNvPr id="721" name="Google Shape;721;p30"/>
            <p:cNvSpPr txBox="1"/>
            <p:nvPr/>
          </p:nvSpPr>
          <p:spPr>
            <a:xfrm>
              <a:off x="3373655" y="2786365"/>
              <a:ext cx="73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03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722" name="Google Shape;722;p30"/>
          <p:cNvGrpSpPr/>
          <p:nvPr/>
        </p:nvGrpSpPr>
        <p:grpSpPr>
          <a:xfrm>
            <a:off x="5052730" y="3076258"/>
            <a:ext cx="3384870" cy="738203"/>
            <a:chOff x="5052880" y="3324230"/>
            <a:chExt cx="3384870" cy="738203"/>
          </a:xfrm>
        </p:grpSpPr>
        <p:grpSp>
          <p:nvGrpSpPr>
            <p:cNvPr id="723" name="Google Shape;723;p30"/>
            <p:cNvGrpSpPr/>
            <p:nvPr/>
          </p:nvGrpSpPr>
          <p:grpSpPr>
            <a:xfrm>
              <a:off x="6227650" y="3324230"/>
              <a:ext cx="2210100" cy="738203"/>
              <a:chOff x="6227650" y="3324230"/>
              <a:chExt cx="2210100" cy="738203"/>
            </a:xfrm>
          </p:grpSpPr>
          <p:sp>
            <p:nvSpPr>
              <p:cNvPr id="724" name="Google Shape;724;p30"/>
              <p:cNvSpPr txBox="1"/>
              <p:nvPr/>
            </p:nvSpPr>
            <p:spPr>
              <a:xfrm>
                <a:off x="6227650" y="3324230"/>
                <a:ext cx="221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LLM fine-tuning</a:t>
                </a:r>
                <a:endParaRPr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endParaRPr>
              </a:p>
            </p:txBody>
          </p:sp>
          <p:sp>
            <p:nvSpPr>
              <p:cNvPr id="725" name="Google Shape;725;p30"/>
              <p:cNvSpPr txBox="1"/>
              <p:nvPr/>
            </p:nvSpPr>
            <p:spPr>
              <a:xfrm>
                <a:off x="6227650" y="3577933"/>
                <a:ext cx="22101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Should it be implemented and is it possible?</a:t>
                </a:r>
                <a:endParaRPr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endParaRPr>
              </a:p>
            </p:txBody>
          </p:sp>
        </p:grpSp>
        <p:sp>
          <p:nvSpPr>
            <p:cNvPr id="726" name="Google Shape;726;p30"/>
            <p:cNvSpPr txBox="1"/>
            <p:nvPr/>
          </p:nvSpPr>
          <p:spPr>
            <a:xfrm>
              <a:off x="5052880" y="3324230"/>
              <a:ext cx="73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04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727" name="Google Shape;727;p30"/>
          <p:cNvGrpSpPr/>
          <p:nvPr/>
        </p:nvGrpSpPr>
        <p:grpSpPr>
          <a:xfrm>
            <a:off x="720100" y="3610909"/>
            <a:ext cx="3384805" cy="738366"/>
            <a:chOff x="720250" y="3858881"/>
            <a:chExt cx="3384805" cy="738366"/>
          </a:xfrm>
        </p:grpSpPr>
        <p:grpSp>
          <p:nvGrpSpPr>
            <p:cNvPr id="728" name="Google Shape;728;p30"/>
            <p:cNvGrpSpPr/>
            <p:nvPr/>
          </p:nvGrpSpPr>
          <p:grpSpPr>
            <a:xfrm>
              <a:off x="720250" y="3858881"/>
              <a:ext cx="2210100" cy="738366"/>
              <a:chOff x="720250" y="3858881"/>
              <a:chExt cx="2210100" cy="738366"/>
            </a:xfrm>
          </p:grpSpPr>
          <p:sp>
            <p:nvSpPr>
              <p:cNvPr id="729" name="Google Shape;729;p30"/>
              <p:cNvSpPr txBox="1"/>
              <p:nvPr/>
            </p:nvSpPr>
            <p:spPr>
              <a:xfrm>
                <a:off x="720250" y="3858881"/>
                <a:ext cx="22101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Time</a:t>
                </a:r>
                <a:endParaRPr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endParaRPr>
              </a:p>
            </p:txBody>
          </p:sp>
          <p:sp>
            <p:nvSpPr>
              <p:cNvPr id="730" name="Google Shape;730;p30"/>
              <p:cNvSpPr txBox="1"/>
              <p:nvPr/>
            </p:nvSpPr>
            <p:spPr>
              <a:xfrm>
                <a:off x="720250" y="4112747"/>
                <a:ext cx="22101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When is the project expected to finish?</a:t>
                </a:r>
                <a:endParaRPr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endParaRPr>
              </a:p>
            </p:txBody>
          </p:sp>
        </p:grpSp>
        <p:sp>
          <p:nvSpPr>
            <p:cNvPr id="731" name="Google Shape;731;p30"/>
            <p:cNvSpPr txBox="1"/>
            <p:nvPr/>
          </p:nvSpPr>
          <p:spPr>
            <a:xfrm>
              <a:off x="3373655" y="3858881"/>
              <a:ext cx="731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05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cxnSp>
        <p:nvCxnSpPr>
          <p:cNvPr id="732" name="Google Shape;732;p30"/>
          <p:cNvCxnSpPr>
            <a:stCxn id="711" idx="3"/>
            <a:endCxn id="698" idx="2"/>
          </p:cNvCxnSpPr>
          <p:nvPr/>
        </p:nvCxnSpPr>
        <p:spPr>
          <a:xfrm>
            <a:off x="4104905" y="1699077"/>
            <a:ext cx="396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733;p30"/>
          <p:cNvCxnSpPr>
            <a:stCxn id="700" idx="6"/>
            <a:endCxn id="716" idx="1"/>
          </p:cNvCxnSpPr>
          <p:nvPr/>
        </p:nvCxnSpPr>
        <p:spPr>
          <a:xfrm>
            <a:off x="4656400" y="2234185"/>
            <a:ext cx="396300" cy="9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4" name="Google Shape;734;p30"/>
          <p:cNvCxnSpPr>
            <a:stCxn id="699" idx="2"/>
            <a:endCxn id="721" idx="3"/>
          </p:cNvCxnSpPr>
          <p:nvPr/>
        </p:nvCxnSpPr>
        <p:spPr>
          <a:xfrm rot="10800000">
            <a:off x="4105000" y="2766893"/>
            <a:ext cx="396300" cy="24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35;p30"/>
          <p:cNvCxnSpPr>
            <a:stCxn id="701" idx="6"/>
            <a:endCxn id="726" idx="1"/>
          </p:cNvCxnSpPr>
          <p:nvPr/>
        </p:nvCxnSpPr>
        <p:spPr>
          <a:xfrm>
            <a:off x="4656400" y="3304401"/>
            <a:ext cx="396300" cy="6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6" name="Google Shape;736;p30"/>
          <p:cNvCxnSpPr>
            <a:stCxn id="702" idx="2"/>
            <a:endCxn id="731" idx="3"/>
          </p:cNvCxnSpPr>
          <p:nvPr/>
        </p:nvCxnSpPr>
        <p:spPr>
          <a:xfrm rot="10800000">
            <a:off x="4105000" y="3839509"/>
            <a:ext cx="396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7" name="Google Shape;737;p30"/>
          <p:cNvCxnSpPr>
            <a:cxnSpLocks/>
            <a:stCxn id="711" idx="1"/>
            <a:endCxn id="710" idx="3"/>
          </p:cNvCxnSpPr>
          <p:nvPr/>
        </p:nvCxnSpPr>
        <p:spPr>
          <a:xfrm rot="10800000">
            <a:off x="2930105" y="1699077"/>
            <a:ext cx="443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38" name="Google Shape;738;p30"/>
          <p:cNvCxnSpPr>
            <a:stCxn id="721" idx="1"/>
            <a:endCxn id="719" idx="3"/>
          </p:cNvCxnSpPr>
          <p:nvPr/>
        </p:nvCxnSpPr>
        <p:spPr>
          <a:xfrm rot="10800000">
            <a:off x="2930105" y="2766993"/>
            <a:ext cx="443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39" name="Google Shape;739;p30"/>
          <p:cNvCxnSpPr>
            <a:stCxn id="731" idx="1"/>
            <a:endCxn id="729" idx="3"/>
          </p:cNvCxnSpPr>
          <p:nvPr/>
        </p:nvCxnSpPr>
        <p:spPr>
          <a:xfrm rot="10800000">
            <a:off x="2930105" y="3839509"/>
            <a:ext cx="443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0" name="Google Shape;740;p30"/>
          <p:cNvCxnSpPr>
            <a:stCxn id="716" idx="3"/>
            <a:endCxn id="714" idx="1"/>
          </p:cNvCxnSpPr>
          <p:nvPr/>
        </p:nvCxnSpPr>
        <p:spPr>
          <a:xfrm>
            <a:off x="5784130" y="2235180"/>
            <a:ext cx="443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1" name="Google Shape;741;p30"/>
          <p:cNvCxnSpPr>
            <a:stCxn id="726" idx="3"/>
            <a:endCxn id="724" idx="1"/>
          </p:cNvCxnSpPr>
          <p:nvPr/>
        </p:nvCxnSpPr>
        <p:spPr>
          <a:xfrm>
            <a:off x="5784130" y="3304858"/>
            <a:ext cx="443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756588707"/>
      </p:ext>
    </p:extLst>
  </p:cSld>
  <p:clrMapOvr>
    <a:masterClrMapping/>
  </p:clrMapOvr>
</p:sld>
</file>

<file path=ppt/theme/theme1.xml><?xml version="1.0" encoding="utf-8"?>
<a:theme xmlns:a="http://schemas.openxmlformats.org/drawingml/2006/main" name="AI Tech Agency Infographics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580</Words>
  <Application>Microsoft Office PowerPoint</Application>
  <PresentationFormat>On-screen Show (16:9)</PresentationFormat>
  <Paragraphs>95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Rajdhani</vt:lpstr>
      <vt:lpstr>Roboto Condensed Light</vt:lpstr>
      <vt:lpstr>Fira Sans Condensed</vt:lpstr>
      <vt:lpstr>Anaheim</vt:lpstr>
      <vt:lpstr>Fira Sans Condensed Light</vt:lpstr>
      <vt:lpstr>Arial</vt:lpstr>
      <vt:lpstr>AI Tech Agency Infographics by Slidesgo</vt:lpstr>
      <vt:lpstr>Leveraging Spatial Data and Generative AI for Optimal Business Location Selection</vt:lpstr>
      <vt:lpstr>“Mechanism for the Optimal Location of a Business” ~ article</vt:lpstr>
      <vt:lpstr>Machine Learning Integration</vt:lpstr>
      <vt:lpstr>Suggested Framework</vt:lpstr>
      <vt:lpstr>User Input</vt:lpstr>
      <vt:lpstr>PowerPoint Presentation</vt:lpstr>
      <vt:lpstr>Candidate Fetching</vt:lpstr>
      <vt:lpstr>PowerPoint Presentation</vt:lpstr>
      <vt:lpstr>Machine Learning Model</vt:lpstr>
      <vt:lpstr>PowerPoint Presentation</vt:lpstr>
      <vt:lpstr>Retrieval-Augmented Generation (RAG)</vt:lpstr>
      <vt:lpstr>PowerPoint Presentation</vt:lpstr>
      <vt:lpstr>Suggested Framework Recap</vt:lpstr>
      <vt:lpstr>Dynamic Behavior of the System</vt:lpstr>
      <vt:lpstr>PowerPoint Presentation</vt:lpstr>
      <vt:lpstr>PowerPoint Presentation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Leveraging Spatial Data and Generative AI for Optimal Business Location Selection</dc:title>
  <cp:lastModifiedBy>Giorgos</cp:lastModifiedBy>
  <cp:revision>10</cp:revision>
  <dcterms:modified xsi:type="dcterms:W3CDTF">2025-03-20T12:58:13Z</dcterms:modified>
</cp:coreProperties>
</file>